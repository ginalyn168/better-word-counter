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ovelace" charset="1" panose="00000500000000000000"/>
      <p:regular r:id="rId12"/>
    </p:embeddedFont>
    <p:embeddedFont>
      <p:font typeface="Lovelace Italics" charset="1" panose="00000500000000000000"/>
      <p:regular r:id="rId13"/>
    </p:embeddedFont>
    <p:embeddedFont>
      <p:font typeface="TT Hoves" charset="1" panose="02000003020000060003"/>
      <p:regular r:id="rId14"/>
    </p:embeddedFont>
    <p:embeddedFont>
      <p:font typeface="TT Hoves Bold" charset="1" panose="02000003020000060003"/>
      <p:regular r:id="rId15"/>
    </p:embeddedFont>
    <p:embeddedFont>
      <p:font typeface="TT Hoves Italics" charset="1" panose="02000003020000060003"/>
      <p:regular r:id="rId16"/>
    </p:embeddedFont>
    <p:embeddedFont>
      <p:font typeface="TT Hoves Bold Italics" charset="1" panose="020000030200000600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40556" y="7889271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90770" y="-5871599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13407" y="2145504"/>
            <a:ext cx="10280186" cy="184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9"/>
              </a:lnSpc>
            </a:pPr>
            <a:r>
              <a:rPr lang="en-US" sz="16357" spc="-1014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YEAR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96297" y="1038163"/>
            <a:ext cx="1105497" cy="1105497"/>
          </a:xfrm>
          <a:custGeom>
            <a:avLst/>
            <a:gdLst/>
            <a:ahLst/>
            <a:cxnLst/>
            <a:rect r="r" b="b" t="t" l="l"/>
            <a:pathLst>
              <a:path h="1105497" w="1105497">
                <a:moveTo>
                  <a:pt x="0" y="0"/>
                </a:moveTo>
                <a:lnTo>
                  <a:pt x="1105497" y="0"/>
                </a:lnTo>
                <a:lnTo>
                  <a:pt x="1105497" y="1105497"/>
                </a:lnTo>
                <a:lnTo>
                  <a:pt x="0" y="110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13407" y="6144810"/>
            <a:ext cx="10280186" cy="1872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9"/>
              </a:lnSpc>
            </a:pPr>
            <a:r>
              <a:rPr lang="en-US" sz="16357" i="true" spc="-1014">
                <a:solidFill>
                  <a:srgbClr val="FBF9F5"/>
                </a:solidFill>
                <a:latin typeface="Lovelace Italics"/>
                <a:ea typeface="Lovelace Italics"/>
                <a:cs typeface="Lovelace Italics"/>
                <a:sym typeface="Lovelace Italics"/>
              </a:rPr>
              <a:t>PROJECT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524894" y="6014040"/>
            <a:ext cx="1105497" cy="1105497"/>
          </a:xfrm>
          <a:custGeom>
            <a:avLst/>
            <a:gdLst/>
            <a:ahLst/>
            <a:cxnLst/>
            <a:rect r="r" b="b" t="t" l="l"/>
            <a:pathLst>
              <a:path h="1105497" w="1105497">
                <a:moveTo>
                  <a:pt x="0" y="0"/>
                </a:moveTo>
                <a:lnTo>
                  <a:pt x="1105497" y="0"/>
                </a:lnTo>
                <a:lnTo>
                  <a:pt x="1105497" y="1105496"/>
                </a:lnTo>
                <a:lnTo>
                  <a:pt x="0" y="11054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9398" y="10287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84510" y="7938686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PRESENTED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20097" y="7938686"/>
            <a:ext cx="3729190" cy="1233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77"/>
              </a:lnSpc>
            </a:pPr>
            <a:r>
              <a:rPr lang="en-US" b="true" sz="3555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RANBIR GILL &amp; WEN-LING LIN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13010646" y="8905382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908953" y="4160913"/>
            <a:ext cx="10280186" cy="1843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59"/>
              </a:lnSpc>
            </a:pPr>
            <a:r>
              <a:rPr lang="en-US" sz="16357" spc="-1014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END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034107" y="3989105"/>
            <a:ext cx="1105497" cy="1105497"/>
          </a:xfrm>
          <a:custGeom>
            <a:avLst/>
            <a:gdLst/>
            <a:ahLst/>
            <a:cxnLst/>
            <a:rect r="r" b="b" t="t" l="l"/>
            <a:pathLst>
              <a:path h="1105497" w="1105497">
                <a:moveTo>
                  <a:pt x="0" y="0"/>
                </a:moveTo>
                <a:lnTo>
                  <a:pt x="1105496" y="0"/>
                </a:lnTo>
                <a:lnTo>
                  <a:pt x="1105496" y="1105497"/>
                </a:lnTo>
                <a:lnTo>
                  <a:pt x="0" y="110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21932" y="5143021"/>
            <a:ext cx="7166068" cy="7113951"/>
          </a:xfrm>
          <a:custGeom>
            <a:avLst/>
            <a:gdLst/>
            <a:ahLst/>
            <a:cxnLst/>
            <a:rect r="r" b="b" t="t" l="l"/>
            <a:pathLst>
              <a:path h="7113951" w="7166068">
                <a:moveTo>
                  <a:pt x="0" y="0"/>
                </a:moveTo>
                <a:lnTo>
                  <a:pt x="7166068" y="0"/>
                </a:lnTo>
                <a:lnTo>
                  <a:pt x="7166068" y="7113951"/>
                </a:lnTo>
                <a:lnTo>
                  <a:pt x="0" y="7113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59118" y="5281857"/>
            <a:ext cx="1496853" cy="1919043"/>
          </a:xfrm>
          <a:custGeom>
            <a:avLst/>
            <a:gdLst/>
            <a:ahLst/>
            <a:cxnLst/>
            <a:rect r="r" b="b" t="t" l="l"/>
            <a:pathLst>
              <a:path h="1919043" w="1496853">
                <a:moveTo>
                  <a:pt x="0" y="0"/>
                </a:moveTo>
                <a:lnTo>
                  <a:pt x="1496853" y="0"/>
                </a:lnTo>
                <a:lnTo>
                  <a:pt x="1496853" y="1919043"/>
                </a:lnTo>
                <a:lnTo>
                  <a:pt x="0" y="1919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9992" y="-4676540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4072" y="2454939"/>
            <a:ext cx="11999857" cy="120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8"/>
              </a:lnSpc>
            </a:pPr>
            <a:r>
              <a:rPr lang="en-US" sz="10664" spc="-661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OUR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79049" y="2369367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93112" y="6936329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9454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YEAR END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2156" y="3557198"/>
            <a:ext cx="13383687" cy="5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BOTH OF US RAN INTO THE SAME </a:t>
            </a:r>
            <a:r>
              <a:rPr lang="en-US" b="true" sz="3600" i="true">
                <a:solidFill>
                  <a:srgbClr val="FBF9F5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FRUSTRATIONS </a:t>
            </a: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THIS YEAR: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C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ertain parts of essays we have written don't count toward the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word count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, like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citations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research questions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in the History IA or the TOK Exhibition.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Every time we wanted to check our word count, we had to use an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external tool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manually delete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everything that didn't count.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It was repetitive,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took a lot of time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, and was a hassle.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08297" y="2369367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73211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010646" y="92583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9992" y="-4676540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4072" y="2454939"/>
            <a:ext cx="11999857" cy="120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8"/>
              </a:lnSpc>
            </a:pPr>
            <a:r>
              <a:rPr lang="en-US" sz="10664" spc="-661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OUR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248428" y="2385291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2" y="0"/>
                </a:lnTo>
                <a:lnTo>
                  <a:pt x="681972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93112" y="6936329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9454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YEAR END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5808" y="3557198"/>
            <a:ext cx="12396384" cy="476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TO </a:t>
            </a:r>
            <a:r>
              <a:rPr lang="en-US" b="true" sz="3600" i="true">
                <a:solidFill>
                  <a:srgbClr val="FBF9F5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SOLVE </a:t>
            </a: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THIS...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W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 created a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Google Docs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add-on that lets you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highlight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any piece of text in a document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exclude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it.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Those words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won't count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towards your word count.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You would see a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live count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of only the words that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actually matter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to your writing.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These exclusions also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save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between sessions.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397813" y="2385291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58727" y="2385291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673211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3010646" y="92583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9992" y="-4676540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4072" y="2454939"/>
            <a:ext cx="11999857" cy="120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8"/>
              </a:lnSpc>
            </a:pPr>
            <a:r>
              <a:rPr lang="en-US" sz="10664" spc="-661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TOOLS USED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901266" y="2378892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93112" y="6936329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9454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YEAR END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944" y="3557198"/>
            <a:ext cx="14976112" cy="545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IN THIS </a:t>
            </a:r>
            <a:r>
              <a:rPr lang="en-US" b="true" sz="3600" i="true">
                <a:solidFill>
                  <a:srgbClr val="FBF9F5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PRODUCT</a:t>
            </a:r>
            <a:r>
              <a:rPr lang="en-US" sz="3600" i="true">
                <a:solidFill>
                  <a:srgbClr val="FBF9F5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...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W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 used Google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Apps Script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to serve as the base framework of the add-on.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We used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 HTML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CSS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for the sidebar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UI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, and then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JavaScript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for all of the functions.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The HTML in the sidebar uses a built-in API called </a:t>
            </a:r>
            <a:r>
              <a:rPr lang="en-US" b="true" sz="3600" i="true">
                <a:solidFill>
                  <a:srgbClr val="FBF9F5"/>
                </a:solidFill>
                <a:latin typeface="TT Hoves Bold Italics"/>
                <a:ea typeface="TT Hoves Bold Italics"/>
                <a:cs typeface="TT Hoves Bold Italics"/>
                <a:sym typeface="TT Hoves Bold Italics"/>
              </a:rPr>
              <a:t>google.script.run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to run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backend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functions in the Apps Script from the frontend.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It serves as the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bridge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between the JS functions and the UI.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5272" y="2378892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3" y="0"/>
                </a:lnTo>
                <a:lnTo>
                  <a:pt x="681973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73211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010646" y="92583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93651" y="-3873784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3" y="0"/>
                </a:lnTo>
                <a:lnTo>
                  <a:pt x="8338513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49742"/>
            <a:ext cx="10864626" cy="1214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8"/>
              </a:lnSpc>
            </a:pPr>
            <a:r>
              <a:rPr lang="en-US" sz="10664" spc="-661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KEY 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879883" y="3171897"/>
            <a:ext cx="681973" cy="681973"/>
          </a:xfrm>
          <a:custGeom>
            <a:avLst/>
            <a:gdLst/>
            <a:ahLst/>
            <a:cxnLst/>
            <a:rect r="r" b="b" t="t" l="l"/>
            <a:pathLst>
              <a:path h="681973" w="681973">
                <a:moveTo>
                  <a:pt x="0" y="0"/>
                </a:moveTo>
                <a:lnTo>
                  <a:pt x="681972" y="0"/>
                </a:lnTo>
                <a:lnTo>
                  <a:pt x="681972" y="681973"/>
                </a:lnTo>
                <a:lnTo>
                  <a:pt x="0" y="681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958622" y="8005163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2"/>
                </a:lnTo>
                <a:lnTo>
                  <a:pt x="0" y="833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59454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YEAR END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32560"/>
            <a:ext cx="15042582" cy="476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Live word count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that updates every second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Highlight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exclude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words or phrases, including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multiple lines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Each exclusion is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removable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with its own button (+ a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clear all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button)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Handles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all cases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of the exclusion, not just the highlighted one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Persistent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exclusions across sessions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If content in exclusion is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deleted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, automatically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invalidates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exclusion</a:t>
            </a:r>
          </a:p>
          <a:p>
            <a:pPr algn="l" marL="777240" indent="-388620" lvl="1">
              <a:lnSpc>
                <a:spcPts val="5400"/>
              </a:lnSpc>
              <a:buFont typeface="Arial"/>
              <a:buChar char="•"/>
            </a:pP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Functional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word wrap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 and </a:t>
            </a:r>
            <a:r>
              <a:rPr lang="en-US" b="true" sz="3600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adjustable </a:t>
            </a:r>
            <a:r>
              <a:rPr lang="en-US" sz="3600">
                <a:solidFill>
                  <a:srgbClr val="FBF9F5"/>
                </a:solidFill>
                <a:latin typeface="TT Hoves"/>
                <a:ea typeface="TT Hoves"/>
                <a:cs typeface="TT Hoves"/>
                <a:sym typeface="TT Hoves"/>
              </a:rPr>
              <a:t>text boxes for selections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673211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3010646" y="92583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80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8120" y="3461582"/>
            <a:ext cx="11472911" cy="255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9"/>
              </a:lnSpc>
            </a:pPr>
            <a:r>
              <a:rPr lang="en-US" sz="22652" spc="-1404">
                <a:solidFill>
                  <a:srgbClr val="FBF9F5"/>
                </a:solidFill>
                <a:latin typeface="Lovelace"/>
                <a:ea typeface="Lovelace"/>
                <a:cs typeface="Lovelace"/>
                <a:sym typeface="Lovelace"/>
              </a:rPr>
              <a:t>LIVE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7544" y="6038371"/>
            <a:ext cx="11472911" cy="2551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9"/>
              </a:lnSpc>
            </a:pPr>
            <a:r>
              <a:rPr lang="en-US" sz="22652" i="true" spc="-1404">
                <a:solidFill>
                  <a:srgbClr val="FBF9F5"/>
                </a:solidFill>
                <a:latin typeface="Lovelace Italics"/>
                <a:ea typeface="Lovelace Italics"/>
                <a:cs typeface="Lovelace Italics"/>
                <a:sym typeface="Lovelace Italics"/>
              </a:rPr>
              <a:t>DEMO!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140556" y="7441982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18744" y="-4807211"/>
            <a:ext cx="8338513" cy="8338513"/>
          </a:xfrm>
          <a:custGeom>
            <a:avLst/>
            <a:gdLst/>
            <a:ahLst/>
            <a:cxnLst/>
            <a:rect r="r" b="b" t="t" l="l"/>
            <a:pathLst>
              <a:path h="8338513" w="8338513">
                <a:moveTo>
                  <a:pt x="0" y="0"/>
                </a:moveTo>
                <a:lnTo>
                  <a:pt x="8338512" y="0"/>
                </a:lnTo>
                <a:lnTo>
                  <a:pt x="8338512" y="8338513"/>
                </a:lnTo>
                <a:lnTo>
                  <a:pt x="0" y="8338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21932" y="5143021"/>
            <a:ext cx="7166068" cy="7113951"/>
          </a:xfrm>
          <a:custGeom>
            <a:avLst/>
            <a:gdLst/>
            <a:ahLst/>
            <a:cxnLst/>
            <a:rect r="r" b="b" t="t" l="l"/>
            <a:pathLst>
              <a:path h="7113951" w="7166068">
                <a:moveTo>
                  <a:pt x="0" y="0"/>
                </a:moveTo>
                <a:lnTo>
                  <a:pt x="7166068" y="0"/>
                </a:lnTo>
                <a:lnTo>
                  <a:pt x="7166068" y="7113951"/>
                </a:lnTo>
                <a:lnTo>
                  <a:pt x="0" y="711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59118" y="5281857"/>
            <a:ext cx="1496853" cy="1919043"/>
          </a:xfrm>
          <a:custGeom>
            <a:avLst/>
            <a:gdLst/>
            <a:ahLst/>
            <a:cxnLst/>
            <a:rect r="r" b="b" t="t" l="l"/>
            <a:pathLst>
              <a:path h="1919043" w="1496853">
                <a:moveTo>
                  <a:pt x="0" y="0"/>
                </a:moveTo>
                <a:lnTo>
                  <a:pt x="1496853" y="0"/>
                </a:lnTo>
                <a:lnTo>
                  <a:pt x="1496853" y="1919043"/>
                </a:lnTo>
                <a:lnTo>
                  <a:pt x="0" y="19190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959454"/>
            <a:ext cx="4578840" cy="6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7"/>
              </a:lnSpc>
            </a:pPr>
            <a:r>
              <a:rPr lang="en-US" sz="3555" b="true">
                <a:solidFill>
                  <a:srgbClr val="FBF9F5"/>
                </a:solidFill>
                <a:latin typeface="TT Hoves Bold"/>
                <a:ea typeface="TT Hoves Bold"/>
                <a:cs typeface="TT Hoves Bold"/>
                <a:sym typeface="TT Hoves Bold"/>
              </a:rPr>
              <a:t>YEAR END PROJECT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06374" y="5731364"/>
            <a:ext cx="1710618" cy="1710618"/>
          </a:xfrm>
          <a:custGeom>
            <a:avLst/>
            <a:gdLst/>
            <a:ahLst/>
            <a:cxnLst/>
            <a:rect r="r" b="b" t="t" l="l"/>
            <a:pathLst>
              <a:path h="1710618" w="1710618">
                <a:moveTo>
                  <a:pt x="0" y="0"/>
                </a:moveTo>
                <a:lnTo>
                  <a:pt x="1710618" y="0"/>
                </a:lnTo>
                <a:lnTo>
                  <a:pt x="1710618" y="1710618"/>
                </a:lnTo>
                <a:lnTo>
                  <a:pt x="0" y="17106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855056" y="5731364"/>
            <a:ext cx="1710618" cy="1710618"/>
          </a:xfrm>
          <a:custGeom>
            <a:avLst/>
            <a:gdLst/>
            <a:ahLst/>
            <a:cxnLst/>
            <a:rect r="r" b="b" t="t" l="l"/>
            <a:pathLst>
              <a:path h="1710618" w="1710618">
                <a:moveTo>
                  <a:pt x="0" y="0"/>
                </a:moveTo>
                <a:lnTo>
                  <a:pt x="1710618" y="0"/>
                </a:lnTo>
                <a:lnTo>
                  <a:pt x="1710618" y="1710618"/>
                </a:lnTo>
                <a:lnTo>
                  <a:pt x="0" y="17106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673211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0" y="0"/>
                </a:moveTo>
                <a:lnTo>
                  <a:pt x="5277354" y="0"/>
                </a:lnTo>
                <a:lnTo>
                  <a:pt x="5277354" y="352918"/>
                </a:lnTo>
                <a:lnTo>
                  <a:pt x="0" y="352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3010646" y="9258300"/>
            <a:ext cx="5277354" cy="352918"/>
          </a:xfrm>
          <a:custGeom>
            <a:avLst/>
            <a:gdLst/>
            <a:ahLst/>
            <a:cxnLst/>
            <a:rect r="r" b="b" t="t" l="l"/>
            <a:pathLst>
              <a:path h="352918" w="5277354">
                <a:moveTo>
                  <a:pt x="5277354" y="0"/>
                </a:moveTo>
                <a:lnTo>
                  <a:pt x="0" y="0"/>
                </a:lnTo>
                <a:lnTo>
                  <a:pt x="0" y="352918"/>
                </a:lnTo>
                <a:lnTo>
                  <a:pt x="5277354" y="352918"/>
                </a:lnTo>
                <a:lnTo>
                  <a:pt x="527735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DAHMNQd7o_g</dc:identifier>
  <dcterms:modified xsi:type="dcterms:W3CDTF">2011-08-01T06:04:30Z</dcterms:modified>
  <cp:revision>1</cp:revision>
  <dc:title>CS YEP PRESENTATION 2026</dc:title>
</cp:coreProperties>
</file>